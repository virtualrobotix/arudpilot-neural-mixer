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hero_aut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47169"/>
            <a:ext cx="5669280" cy="31636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1847169"/>
            <a:ext cx="5669280" cy="316366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pl_immagin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Open Sans"/>
              </a:defRPr>
            </a:pPr>
            <a:r>
              <a:t>UNIVERSAL NEURO-ADAPTIVE</a:t>
            </a:r>
            <a:br/>
            <a: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70C0"/>
                </a:solidFill>
                <a:latin typeface="Open Sans"/>
              </a:defRPr>
            </a:pPr>
            <a:r>
              <a:t>A universal autopilot architecture for heterogeneous</a:t>
            </a:r>
            <a:br/>
            <a:r>
              <a:t>vehicles and robots, with an embedded neural</a:t>
            </a:r>
            <a:br/>
            <a:r>
              <a:t>inference module and a learned actuation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931920"/>
            <a:ext cx="54864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Open Sans"/>
              </a:defRPr>
            </a:pPr>
            <a:r>
              <a:t>Roberto Navoni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7D31"/>
                </a:solidFill>
                <a:latin typeface="Calibri"/>
              </a:defRPr>
            </a:pPr>
            <a:r>
              <a:t>Patent Pending  —  Application No. 102026000009919  —  Filing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Laser Navigation S.R.L.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What the patent covers</a:t>
            </a:r>
          </a:p>
        </p:txBody>
      </p:sp>
      <p:pic>
        <p:nvPicPr>
          <p:cNvPr id="5" name="Picture 4" descr="slide_hero_aut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patent describes an embedded universal neuro-adaptive autopilot, able to control any vehicle or robot — drones, rovers, bipeds, quadrupeds, ROVs, robot arms — with a single hardware platform and a neural policy learned through Reinforcement Learning.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neural network replaces the traditional static mixer matrix, removing manual tuning of dozens of PID parameters and the need for dedicated firmware for every platform.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system includes an embedded GPU/NPU/TPU module with at least 4 TOPS INT8 and 4 GB of LPDDR5 memory, a hybrid Safety Supervisor with deterministic PID fallback, and a modular multi-module architecture interconnected over a bidirectional CAN bus.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The problem: limits of the classical autopilot</a:t>
            </a:r>
          </a:p>
        </p:txBody>
      </p:sp>
      <p:pic>
        <p:nvPicPr>
          <p:cNvPr id="5" name="Picture 4" descr="slide_problem_vs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18872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Traditional autopilots use a static mixer matrix: a fixed mapping from control commands onto actuators. That matrix is specific to each robot geometry and requires manual tuning of 40+ PID parameters per platform.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Every new robot needs dedicated firmware and explicit inverse kinematics for articulated machines. There is no adaptation to faults, wind, wear or payload changes.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Operational data collected in the field is not used to improve performance. The result is a rigid, expensive, non-scalable approach.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hero_aut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1" y="0"/>
            <a:ext cx="1228953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72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pl_immagin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Open Sans"/>
              </a:defRPr>
            </a:pPr>
            <a:r>
              <a:t>The solution: a neuro-adaptive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CADA"/>
                </a:solidFill>
                <a:latin typeface="Calibri"/>
              </a:defRPr>
            </a:pPr>
            <a:r>
              <a:t>Learned neural policy  ·  Universal  ·  Modular  ·  Safe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Hybrid hardware architecture</a:t>
            </a:r>
          </a:p>
        </p:txBody>
      </p:sp>
      <p:pic>
        <p:nvPicPr>
          <p:cNvPr id="5" name="Picture 4" descr="ppt_02_soluzi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Safety-critical MCU (20): dual-core real-time processor running FreeRTOS, a deterministic Safety Supervisor, PID fallback, hardware watchdog and actuator I/O.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Embedded neural module (30): GPU/NPU/TPU with at least 4 TOPS INT8, 4 GB LPDDR5, secure storage for signed neural policies, and an optimized inference runtime.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Interconnect bus (140): PCIe 4.0, SPI, DMA shared memory and CAN FD for minimum-latency traffic between MCU and neural module. Sensor Interface (40) and Actuation Interface (50) for IMU, GNSS RTK, barometer, optical flow, encoders and force/torque.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Open Sans"/>
              </a:defRPr>
            </a:pPr>
            <a:r>
              <a:t>Neural Policy Engine (60)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45720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Control Policy Network (61)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INT8-quantized neural network (MLP, CNN+LSTM, GRU, Transformer) that produces commands for N actuators. It replaces the static mixer matrix with a learned non-linear 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Observation Encoder (62)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Builds the observation vector: inertial state, navigation (position, velocity, heading), actuator state, a history of at least 5 issued commands with positions, feedback, targets and tracking errors, operational context and morphological info.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Action Decoder (63)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Maps network output onto physical actuator channels: saturation, format conversion (PWM, DShot, CAN/UAVCAN, I2C, UART, SPI, GPIO) and limit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Policy Registry (64)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Library of pre-trained policies, one per morphological class. Automatic selection from the identified robot. Hot-swap of the policy with no system reboot.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Observation vector: network input</a:t>
            </a:r>
          </a:p>
        </p:txBody>
      </p:sp>
      <p:pic>
        <p:nvPicPr>
          <p:cNvPr id="5" name="Picture 4" descr="ppt_07_ob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Inertial state: 3-axis accelerations, gyros, orientation quaternions, vibration indicators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Navigation state: position, velocity, heading, trajectory error (from Neural State Estimator 160)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Actuator state: RPM, current, temperature, torque, fault flags per actuator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History of at least 5 issued commands: actuator positions, forwarded commands, associated feedback, motion targets, tracking errors — short-term dynamic memory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Motion targets: 6DoF, trajectory, balance, manipulation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Context: estimated wind, terrain, payload, battery, temperature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Optional morphological information for cross-robot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modula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1" y="0"/>
            <a:ext cx="1228953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72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pl_immagin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Open Sans"/>
              </a:defRPr>
            </a:pPr>
            <a:r>
              <a:t>Modular multi-module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CADA"/>
                </a:solidFill>
                <a:latin typeface="Calibri"/>
              </a:defRPr>
            </a:pPr>
            <a:r>
              <a:t>Bidirectional CAN bus (200)  ·  Power bus (210)  ·  Shared real-time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Inter-module modular architecture</a:t>
            </a:r>
          </a:p>
        </p:txBody>
      </p:sp>
      <p:pic>
        <p:nvPicPr>
          <p:cNvPr id="5" name="Picture 4" descr="slide_modula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18872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autopilot system may comprise several autopilot modules interconnected by a bidirectional communication bus (200), CAN or equivalent, and a power bus (210) for energy distribution.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Each module shares its internal states in real time (observation vector, network outputs, actuator state, diagnostics) with every other module on the bus.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This architecture enables complex multi-segment robots: a quadruped with a manipulator arm can use one autopilot module for locomotion and a second for manipulation, coordinated through shared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Open Sans"/>
              </a:defRPr>
            </a:pPr>
            <a:r>
              <a:t>Four operating modes — Adaptive Control Fusion (80)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45720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1. Classic Only (81)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EKF → PID → static mixer matrix. Active at boot, in fallback, or when the neural module is unavailable.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2. Neural Assisted (82)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network suggests corrections, adapts PID gains dynamically, improves the EKF estimate and optimizes actuator allocation.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3. Neural Primary (83)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network generates actuation commands directly. The Safety Supervisor checks them in real time. Classical PID as fallback.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CADA"/>
                </a:solidFill>
                <a:latin typeface="Open Sans"/>
              </a:defRPr>
            </a:pPr>
            <a:r>
              <a:t>▸ 4. Policy Switching (84)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Identifies the robot morphology and loads the matching policy from the Policy Registry (64). Cross-platform universality.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Safety Supervisor (90) — hybrid safety</a:t>
            </a:r>
          </a:p>
        </p:txBody>
      </p:sp>
      <p:pic>
        <p:nvPicPr>
          <p:cNvPr id="5" name="Picture 4" descr="slide_safety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Boundary Checker (91): physical limits, flight envelope, geofence, joint limits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Stability Predictor (92): 50 ms look-ahead of future state, detection of imminent instability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PID Fallback Controller (93): always ready for instant takeover, executed on the real-time MCU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Consensus Validator (94): neural vs classical comparison, majority vote on diverging outputs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Output Limiter (95): rate limiting and final saturation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Anomaly Detector (180): anomalies on sensor data and behaviour patterns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Safety Supervisor is deterministic, runs on the MCU (20), and engages on faults, timeouts and sensor degradation.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Inverse-kinematics bypass</a:t>
            </a:r>
          </a:p>
        </p:txBody>
      </p:sp>
      <p:pic>
        <p:nvPicPr>
          <p:cNvPr id="5" name="Picture 4" descr="slide_morphology_univer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18872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On articulated robots (bipeds, quadrupeds, arms) a classical autopilot needs an explicit inverse-kinematics module: a complex mathematical transform from desired trajectories into joint commands.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With a learned neural policy the network maps observations to joint commands directly during simulation training. Inverse kinematics is encoded implicitly in the network weights.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Benefit: balance, locomotion, manipulation and gait are learned end-to-end, without explicit geometric algorithms. The system adapts automatically to uneven terrain, asymmetric payloads and joint wear.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training_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1" y="0"/>
            <a:ext cx="1228953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72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pl_immagin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Open Sans"/>
              </a:defRPr>
            </a:pPr>
            <a:r>
              <a:t>Training and 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CADA"/>
                </a:solidFill>
                <a:latin typeface="Calibri"/>
              </a:defRPr>
            </a:pPr>
            <a:r>
              <a:t>Simulation  ·  Reinforcement Learning  ·  Domain Randomization  ·  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RL training pipeline</a:t>
            </a:r>
          </a:p>
        </p:txBody>
      </p:sp>
      <p:pic>
        <p:nvPicPr>
          <p:cNvPr id="5" name="Picture 4" descr="slide_training_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Neural policies are trained entirely in simulation with Reinforcement Learning algorithms (PPO, SAC, TD3 or equivalent), in environments such as Isaac Gym or Gazebo.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Domain randomization: mass, inertia, friction, wind, delays, faults and sensor noise are randomized so the policy is robust in the real world (sim-to-real transfer).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Pipeline: training → automatic validation → cryptographic signature → OTA deploy onto the neural module (30). Real operational data is logged (Data Manager 100) and reused for replay and continuous retraining.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Communication Layer (120): RC, WiFi, LoRa, LTE/5G, Ethernet, with ECC links and cloud sync for distributed fleet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Neural State Estimator (160) and Anomaly Detector (180)</a:t>
            </a:r>
          </a:p>
        </p:txBody>
      </p:sp>
      <p:pic>
        <p:nvPicPr>
          <p:cNvPr id="5" name="Picture 4" descr="ppt_05_safe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18872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Neural State Estimator (160) is an auxiliary network that improves inertial and navigational state estimation: it learns to fuse sensors more robustly than a classical EKF, estimating biases and latent states.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It supplies the main network with a navigation state covering position, velocity and heading at higher accuracy, especially in GNSS-denied conditions.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Anomaly Detector (180) continuously monitors sensor and behaviour patterns, detecting sensor faults, abnormal vibration or actuation degradation, and informs the Safety Supervisor (90).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5A9E"/>
                </a:solidFill>
                <a:latin typeface="Open Sans"/>
              </a:defRPr>
            </a:pPr>
            <a:r>
              <a:t>Morphological abstraction: one platform, every robot</a:t>
            </a:r>
          </a:p>
        </p:txBody>
      </p:sp>
      <p:pic>
        <p:nvPicPr>
          <p:cNvPr id="5" name="Picture 4" descr="slide_morphology_univer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78" y="731520"/>
            <a:ext cx="5407395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The same hardware and the same software architecture control any robot: quadrotor, hexacopter, VTOL, rover, boat, underwater ROV, humanoid biped, quadruped, snake-like robot, industrial arm, and hybrid configurations.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The Policy Registry (64) holds a library of pre-trained policies, one per morphological class. At start-up or in operation the system identifies the morphology (hardware descriptor or automatic identification) and loads the matching policy with a hot-swap and no reboot. This universality cuts development cost sharply.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Open Sans"/>
              </a:defRPr>
            </a:pPr>
            <a:r>
              <a:t>Neural-network output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A — Direct Actuation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Direct PWM/DShot commands, duty cycle, thrust, servo/joint setpoints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B — Intermediate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9339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Pseudo-forces/torques, intermediate commands, adaptive actuator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8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C — Adaptive 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98064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Predicted Kp/Ki/Kd per axis, dynamic gain scheduling, context 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D — State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02736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EKF correction, bias estimate, latent-state prediction, partial replacement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E — Fault-aware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074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Fault reconfiguration, command redistribution, graceful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F — Hybrid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212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Weighted mix of neural and classical outputs according to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Open Sans"/>
              </a:defRPr>
            </a:pPr>
            <a:r>
              <a:t>Competitive 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Cross-morphology universality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 same hardware controls drones, rovers, bipeds, robot arms and any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No static mixer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9339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 learned neural policy replaces the mixer matrix and removes manual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8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Adaptive and fault-tolerant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98064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Adapts to faults, wind, wear and variable payload; automatic graceful 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Hybrid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02736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Deterministic Safety Supervisor on the MCU with PID fallback always armed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Modular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074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Multi-module interconnection over CAN bus (200) and power bus (210)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Continuous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212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Logging → Replay → Retraining → OTA: real data improves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16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No explicit inverse kinematics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601675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 network learns balance, locomotion and manipulation end-to-end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Open Sans"/>
              </a:defRPr>
            </a:pPr>
            <a:r>
              <a:t>Foundational prior art — Cogito patent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C6E"/>
                </a:solidFill>
                <a:latin typeface="Open Sans"/>
              </a:defRPr>
            </a:pPr>
            <a:r>
              <a:t>▸  IT 102018000009442 / EP 3867841 B1 — Cogito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System for controlling and managing an environmental process using artificial-intelligence techniques → Foundation for the Safety Supervisor, Anomaly Detector, Neural State Estimator, Digital Twin and AI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pl_immagin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A9E"/>
                </a:solidFill>
                <a:latin typeface="Open Sans"/>
              </a:defRPr>
            </a:pPr>
            <a:r>
              <a:t>Industrial applications and scenarios</a:t>
            </a:r>
          </a:p>
        </p:txBody>
      </p:sp>
      <p:pic>
        <p:nvPicPr>
          <p:cNvPr id="5" name="Picture 4" descr="slide_morphology_univer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5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Drones: flight, surveillance, delivery, inspection, agriculture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Quadruped and biped robots: autonomous locomotion, manipulation, adaptive balance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Ground and marine rovers: off-road navigation, exploration, transport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Underwater ROVs: seabed inspection, offshore maintenance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Industrial robot arms: adaptive manipulation, assembly, welding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VTOL and aircraft: learned hover-to-cruise transition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Hybrid multi-module setups: quadruped+arm, rover+manipulator, complex humanoid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Fleet learning: distributed improvement across fleets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Laser Navigation S.R.L.  —  Via Matteotti 34, 24054 Calcio (BG)  —  Italia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hero_aut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1" y="0"/>
            <a:ext cx="1228953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pl_immagin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73152"/>
            <a:ext cx="96012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8288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D7D31"/>
                </a:solidFill>
                <a:latin typeface="Open Sans"/>
              </a:defRPr>
            </a:pPr>
            <a: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1600">
                <a:solidFill>
                  <a:srgbClr val="D0D0D0"/>
                </a:solidFill>
                <a:latin typeface="Calibri"/>
              </a:defRPr>
            </a:pPr>
            <a:r>
              <a:t>An embedded universal neuro-adaptive autopilot: a single hardware platform controls drones, rovers, bipeds, quadrupeds, robot arms, ROVs and any morphology, replacing the static mixer matrix and manual tuning with a neural policy learned through Reinforcement Learning.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600">
                <a:solidFill>
                  <a:srgbClr val="D0D0D0"/>
                </a:solidFill>
                <a:latin typeface="Calibri"/>
              </a:defRPr>
            </a:pPr>
            <a:r>
              <a:t>Modular multi-module architecture interconnected by a bidirectional CAN bus (200) and a power bus (210), with real-time shared state. Hybrid deterministic Safety Supervisor with PID fallback, Policy Registry for hot-swap without reboot, inverse-kinematics bypass, and continuous OTA improvement.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Calibri"/>
              </a:defRPr>
            </a:pPr>
            <a:r>
              <a:t>Patent Pending  —  Application No. 102026000009919  —  Filing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Laser Navigation S.R.L.  —  Via Matteotti 34, 24054 Calcio (BG)  —  Roberto Navoni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
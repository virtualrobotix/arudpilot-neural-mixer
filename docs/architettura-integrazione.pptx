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D3B66"/>
                </a:solidFill>
              </a:rPr>
              <a:t>MicroDuck su ArduPilot</a:t>
            </a:r>
          </a:p>
          <a:p>
            <a:pPr algn="ctr"/>
            <a:r>
              <a:rPr sz="2200" b="0">
                <a:solidFill>
                  <a:srgbClr val="D62728"/>
                </a:solidFill>
              </a:rPr>
              <a:t>Come sono collegati MAVProxy, ArduRover, la rete PPO e MuJoCo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918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</a:rPr>
              <a:t>Roberto Navoni — DelphyAI LAB · r.navoni74@gmail.com · 24 settembre 2026</a:t>
            </a:r>
          </a:p>
          <a:p>
            <a:pPr algn="ctr"/>
            <a:r>
              <a:rPr sz="1300" b="0">
                <a:solidFill>
                  <a:srgbClr val="555555"/>
                </a:solidFill>
              </a:rPr>
              <a:t>Repo: github.com/virtualrobotix/microduck-ap-ppo-sitl  ·  fork ArduPilot: virtualrobotix/ardupilot @ microduck-ppo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54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D3B66"/>
                </a:solidFill>
              </a:rPr>
              <a:t>Un solo firmware ArduRover. La rete neurale (61 osservazioni → 14 servo, 50 Hz) è un task dello scheduler. MuJoCo è il corpo del robot, collegato al SITL come un motore fisico esterno. Il comando arriva da MAVProxy via MAVLink.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1. Tre processi, due collegamenti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In simulazione: GCS, firmware, corpo del robot. Su hardware il terzo processo è il robot vero.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926080" cy="3291840"/>
          </a:xfrm>
          <a:prstGeom prst="roundRect">
            <a:avLst/>
          </a:prstGeom>
          <a:solidFill>
            <a:srgbClr val="E6F4EA"/>
          </a:solidFill>
          <a:ln w="1587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2E7D32"/>
                </a:solidFill>
              </a:rPr>
              <a:t>MAVProxy (GCS)</a:t>
            </a:r>
          </a:p>
          <a:p>
            <a:pPr algn="ctr"/>
            <a:r>
              <a:rPr sz="1300" b="0">
                <a:solidFill>
                  <a:srgbClr val="2E7D32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2E7D32"/>
                </a:solidFill>
              </a:rPr>
              <a:t>operatore o script</a:t>
            </a:r>
          </a:p>
          <a:p>
            <a:pPr algn="ctr"/>
            <a:r>
              <a:rPr sz="1300" b="0">
                <a:solidFill>
                  <a:srgbClr val="2E7D32"/>
                </a:solidFill>
              </a:rPr>
              <a:t>arm / disarm</a:t>
            </a:r>
          </a:p>
          <a:p>
            <a:pPr algn="ctr"/>
            <a:r>
              <a:rPr sz="1300" b="0">
                <a:solidFill>
                  <a:srgbClr val="2E7D32"/>
                </a:solidFill>
              </a:rPr>
              <a:t>stick:  rc N &lt;pwm&gt;</a:t>
            </a:r>
          </a:p>
          <a:p>
            <a:pPr algn="ctr"/>
            <a:r>
              <a:rPr sz="1300" b="0">
                <a:solidFill>
                  <a:srgbClr val="2E7D32"/>
                </a:solidFill>
              </a:rPr>
              <a:t>mode manual / hold</a:t>
            </a:r>
          </a:p>
          <a:p>
            <a:pPr algn="ctr"/>
            <a:r>
              <a:rPr sz="1300" b="0">
                <a:solidFill>
                  <a:srgbClr val="2E7D32"/>
                </a:solidFill>
              </a:rPr>
              <a:t>param set MDK_*</a:t>
            </a:r>
          </a:p>
          <a:p>
            <a:pPr algn="ctr"/>
            <a:r>
              <a:rPr sz="1300" b="0">
                <a:solidFill>
                  <a:srgbClr val="2E7D32"/>
                </a:solidFill>
              </a:rPr>
              <a:t>telemetria PPO_*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828800"/>
            <a:ext cx="3657600" cy="329184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0D3B66"/>
                </a:solidFill>
              </a:rPr>
              <a:t>ArduRover SITL</a:t>
            </a:r>
          </a:p>
          <a:p>
            <a:pPr algn="ctr"/>
            <a:r>
              <a:rPr sz="1300" b="0">
                <a:solidFill>
                  <a:srgbClr val="0D3B66"/>
                </a:solidFill>
              </a:rPr>
              <a:t>(un solo binario ardurover)</a:t>
            </a:r>
          </a:p>
          <a:p>
            <a:pPr algn="ctr"/>
            <a:r>
              <a:rPr sz="1300" b="0">
                <a:solidFill>
                  <a:srgbClr val="0D3B66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0D3B66"/>
                </a:solidFill>
              </a:rPr>
              <a:t>RC_Channels → twist SI</a:t>
            </a:r>
          </a:p>
          <a:p>
            <a:pPr algn="ctr"/>
            <a:r>
              <a:rPr sz="1300" b="0">
                <a:solidFill>
                  <a:srgbClr val="0D3B66"/>
                </a:solidFill>
              </a:rPr>
              <a:t>AP_InertialSensor → gyro, gravità</a:t>
            </a:r>
          </a:p>
          <a:p>
            <a:pPr algn="ctr"/>
            <a:r>
              <a:rPr sz="1300" b="0">
                <a:solidFill>
                  <a:srgbClr val="0D3B66"/>
                </a:solidFill>
              </a:rPr>
              <a:t>AP_MicroDuck: rete PPO 50 Hz</a:t>
            </a:r>
          </a:p>
          <a:p>
            <a:pPr algn="ctr"/>
            <a:r>
              <a:rPr sz="1300" b="0">
                <a:solidFill>
                  <a:srgbClr val="0D3B66"/>
                </a:solidFill>
              </a:rPr>
              <a:t>SRV_Channels: 14 PWM</a:t>
            </a:r>
          </a:p>
          <a:p>
            <a:pPr algn="ctr"/>
            <a:r>
              <a:rPr sz="1300" b="0">
                <a:solidFill>
                  <a:srgbClr val="0D3B66"/>
                </a:solidFill>
              </a:rPr>
              <a:t>backend SIM_JSON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828800"/>
            <a:ext cx="2834640" cy="329184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D62728"/>
                </a:solidFill>
              </a:rPr>
              <a:t>Pianta MuJoCo</a:t>
            </a:r>
          </a:p>
          <a:p>
            <a:pPr algn="ctr"/>
            <a:r>
              <a:rPr sz="1300" b="0">
                <a:solidFill>
                  <a:srgbClr val="D62728"/>
                </a:solidFill>
              </a:rPr>
              <a:t>plant/mujoco_json_plant.py</a:t>
            </a:r>
          </a:p>
          <a:p>
            <a:pPr algn="ctr"/>
            <a:r>
              <a:rPr sz="1300" b="0">
                <a:solidFill>
                  <a:srgbClr val="D62728"/>
                </a:solidFill>
              </a:rPr>
              <a:t/>
            </a:r>
          </a:p>
          <a:p>
            <a:pPr algn="ctr"/>
            <a:r>
              <a:rPr sz="1300" b="0">
                <a:solidFill>
                  <a:srgbClr val="D62728"/>
                </a:solidFill>
              </a:rPr>
              <a:t>14 servo XL330 (modello BAM)</a:t>
            </a:r>
          </a:p>
          <a:p>
            <a:pPr algn="ctr"/>
            <a:r>
              <a:rPr sz="1300" b="0">
                <a:solidFill>
                  <a:srgbClr val="D62728"/>
                </a:solidFill>
              </a:rPr>
              <a:t>fisica 200 Hz (5 ms)</a:t>
            </a:r>
          </a:p>
          <a:p>
            <a:pPr algn="ctr"/>
            <a:r>
              <a:rPr sz="1300" b="0">
                <a:solidFill>
                  <a:srgbClr val="D62728"/>
                </a:solidFill>
              </a:rPr>
              <a:t>IMU, encoder giunti</a:t>
            </a:r>
          </a:p>
          <a:p>
            <a:pPr algn="ctr"/>
            <a:r>
              <a:rPr sz="1300" b="0">
                <a:solidFill>
                  <a:srgbClr val="D62728"/>
                </a:solidFill>
              </a:rPr>
              <a:t>viewer / video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0" y="3017520"/>
            <a:ext cx="914400" cy="0"/>
          </a:xfrm>
          <a:prstGeom prst="line">
            <a:avLst/>
          </a:prstGeom>
          <a:ln w="28575">
            <a:solidFill>
              <a:srgbClr val="2E7D3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383280" y="26700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E7D32"/>
                </a:solidFill>
              </a:rPr>
              <a:t>MAVLink  tcp:5760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383280" y="3931920"/>
            <a:ext cx="914400" cy="0"/>
          </a:xfrm>
          <a:prstGeom prst="line">
            <a:avLst/>
          </a:prstGeom>
          <a:ln w="19050">
            <a:solidFill>
              <a:srgbClr val="2E7D32"/>
            </a:solidFill>
            <a:tailEnd type="triangle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383280" y="39776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E7D32"/>
                </a:solidFill>
              </a:rPr>
              <a:t>STATUSTEXT, NAMED_VALUE_FLOAT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5279" y="3017520"/>
            <a:ext cx="914401" cy="0"/>
          </a:xfrm>
          <a:prstGeom prst="line">
            <a:avLst/>
          </a:prstGeom>
          <a:ln w="28575">
            <a:solidFill>
              <a:srgbClr val="D627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55279" y="2670048"/>
            <a:ext cx="91440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2728"/>
                </a:solidFill>
              </a:rPr>
              <a:t>udp:9002  16 PWM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7955279" y="3931920"/>
            <a:ext cx="914401" cy="0"/>
          </a:xfrm>
          <a:prstGeom prst="line">
            <a:avLst/>
          </a:prstGeom>
          <a:ln w="28575">
            <a:solidFill>
              <a:srgbClr val="D6272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955279" y="3977640"/>
            <a:ext cx="91440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D62728"/>
                </a:solidFill>
              </a:rPr>
              <a:t>udp:9003  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3492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/>
              <a:t>Lock-step: il SITL invia i PWM e aspetta il JSON; MuJoCo fa un passo da 5 ms per frame (SIM_RATE_HZ 200). Il task PPO gira ogni 4 frame = 50 Hz, come in training.</a:t>
            </a:r>
          </a:p>
          <a:p>
            <a:pPr algn="l">
              <a:spcBef>
                <a:spcPts val="600"/>
              </a:spcBef>
            </a:pPr>
            <a:r>
              <a:rPr sz="1300" b="1">
                <a:solidFill>
                  <a:srgbClr val="D62728"/>
                </a:solidFill>
              </a:rPr>
              <a:t>Il task PPO non ha alcun collegamento con MuJoCo: vede solo API ArduPilot. Sostituire la pianta con IMU + bus Dynamixel reali non cambia una riga di AP_MicroDuck.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2. Dentro ArduRover: il loop a 50 Hz di AP_MicroDuck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Tutto ciò che la rete vede passa dalle librerie standard di ArduPilot.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8503920" cy="4480560"/>
          </a:xfrm>
          <a:prstGeom prst="rect">
            <a:avLst/>
          </a:prstGeom>
          <a:noFill/>
          <a:ln w="19050">
            <a:solidFill>
              <a:srgbClr val="0D3B66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54864"/>
          <a:lstStyle/>
          <a:p>
            <a:pPr algn="l"/>
            <a:r>
              <a:rPr sz="1300" b="1">
                <a:solidFill>
                  <a:srgbClr val="0D3B66"/>
                </a:solidFill>
              </a:rPr>
              <a:t>ArduRover — scheduler (SCHED_LOOP_RATE 200)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1965960" cy="7315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AP_InertialSensor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gyro, accel FRD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1965960" cy="7315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Joint feedback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q, q̇ (14) da sitl-&gt;state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49039"/>
            <a:ext cx="1965960" cy="7315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RC_Channels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stick 1/2/4 → vx vy ωz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965960" cy="7315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Storia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azione precedente (14)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2011680"/>
            <a:ext cx="1828800" cy="7315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Filtro gravità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IMU-only, no EKF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2651760"/>
            <a:ext cx="1737360" cy="137160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build_obs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61 float32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frame trunk FLU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2651760"/>
            <a:ext cx="1965960" cy="137160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Forward C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mean/std + rete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MLP | Cartan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≈0.3 ms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06040" y="3246120"/>
            <a:ext cx="2286000" cy="9144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2606040" y="3337560"/>
            <a:ext cx="2286000" cy="777239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2606040" y="3337560"/>
            <a:ext cx="2286000" cy="164592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606040" y="2377440"/>
            <a:ext cx="22860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63440" y="2377440"/>
            <a:ext cx="228600" cy="54864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629400" y="3337560"/>
            <a:ext cx="182880" cy="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812280" y="4617720"/>
            <a:ext cx="1965960" cy="73152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SRV_Channels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Scripting1..14 → PWM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95260" y="4023360"/>
            <a:ext cx="0" cy="594360"/>
          </a:xfrm>
          <a:prstGeom prst="line">
            <a:avLst/>
          </a:prstGeom>
          <a:ln w="1905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95260" y="4114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55555"/>
                </a:solidFill>
              </a:rPr>
              <a:t>q_target = q0 +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</a:rPr>
              <a:t>a applicata → storia (obs[34:48]) al tick successivo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554480"/>
            <a:ext cx="2743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0"/>
              <a:t>•  update_attitude() a loop rate: propaga la direzione della gravità col gyro, la corregge con l'accelerometro (MDK_ATT_TAU 0.5 s)</a:t>
            </a:r>
          </a:p>
          <a:p>
            <a:pPr algn="l">
              <a:spcBef>
                <a:spcPts val="400"/>
              </a:spcBef>
            </a:pPr>
            <a:r>
              <a:rPr sz="1200" b="0"/>
              <a:t>•  update() a 50 Hz: obs → forward → clip → PWM</a:t>
            </a:r>
          </a:p>
          <a:p>
            <a:pPr algn="l">
              <a:spcBef>
                <a:spcPts val="400"/>
              </a:spcBef>
            </a:pPr>
            <a:r>
              <a:rPr sz="1200" b="0"/>
              <a:t>•  Failsafe: disarmato, feedback giunti assente o vecchio &gt; MDK_WD_MS → azione 0 = posa stand (anche nella storia)</a:t>
            </a:r>
          </a:p>
          <a:p>
            <a:pPr algn="l">
              <a:spcBef>
                <a:spcPts val="400"/>
              </a:spcBef>
            </a:pPr>
            <a:r>
              <a:rPr sz="1200" b="0"/>
              <a:t>•  HOLD (MDK_HOLD_MODE 4) → twist 0</a:t>
            </a:r>
          </a:p>
          <a:p>
            <a:pPr algn="l">
              <a:spcBef>
                <a:spcPts val="400"/>
              </a:spcBef>
            </a:pPr>
            <a:r>
              <a:rPr sz="1200" b="0"/>
              <a:t>•  PWM: 1500 + q/0.003 (1 µs = 3 mrad), SERVOn 800..2200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3. Percorso dei sensori: da MuJoCo all'osservazione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Frame diversi, unità diverse: la pianta parla ArduPilot (FRD/NED), il task parla training (FLU).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377440" cy="137160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D62728"/>
                </a:solidFill>
              </a:rPr>
              <a:t>MuJoCo</a:t>
            </a:r>
          </a:p>
          <a:p>
            <a:pPr algn="ctr"/>
            <a:r>
              <a:rPr sz="1100" b="0">
                <a:solidFill>
                  <a:srgbClr val="D62728"/>
                </a:solidFill>
              </a:rPr>
              <a:t>gyro/accel sito IMU (FLU)</a:t>
            </a:r>
          </a:p>
          <a:p>
            <a:pPr algn="ctr"/>
            <a:r>
              <a:rPr sz="1100" b="0">
                <a:solidFill>
                  <a:srgbClr val="D62728"/>
                </a:solidFill>
              </a:rPr>
              <a:t>quaternione trunk (z-up)</a:t>
            </a:r>
          </a:p>
          <a:p>
            <a:pPr algn="ctr"/>
            <a:r>
              <a:rPr sz="1100" b="0">
                <a:solidFill>
                  <a:srgbClr val="D62728"/>
                </a:solidFill>
              </a:rPr>
              <a:t>qpos, qvel 14 giunti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828800"/>
            <a:ext cx="2377440" cy="137160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JSON udp:9003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imu.gyro, imu.accel_body (FRD)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quaternion (NED→FRD)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joints.jpos / jvel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2651760" cy="137160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SITL / SIM_JSON.cpp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→ INS simulata (gyro, accel)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→ sitl-&gt;state.joint_pos/vel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(estensione di questo repo)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828800"/>
            <a:ext cx="2468880" cy="137160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AP_MicroDuck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gyro FRD→FLU: (x, −y, −z)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gravità: filtro → (x, −y, −z)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q − q0, q̇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40" y="2514600"/>
            <a:ext cx="45720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69280" y="2514600"/>
            <a:ext cx="45720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778240" y="2514600"/>
            <a:ext cx="45720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35661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500" b="1">
                <a:solidFill>
                  <a:srgbClr val="0D3B66"/>
                </a:solidFill>
              </a:rPr>
              <a:t>Conversione dei frame (fatta dalla pianta)</a:t>
            </a:r>
          </a:p>
          <a:p>
            <a:pPr algn="l">
              <a:spcBef>
                <a:spcPts val="300"/>
              </a:spcBef>
            </a:pPr>
            <a:r>
              <a:rPr sz="1300" b="0"/>
              <a:t>•  vettori: (x, y, z)_MuJoCo → (x, −y, −z)_ArduPilot  — vale per gyro, accel, posizione, velocità</a:t>
            </a:r>
          </a:p>
          <a:p>
            <a:pPr algn="l">
              <a:spcBef>
                <a:spcPts val="300"/>
              </a:spcBef>
            </a:pPr>
            <a:r>
              <a:rPr sz="1300" b="0"/>
              <a:t>•  quaternione: (w, x, y, z) → (w, x, −y, −z)</a:t>
            </a:r>
          </a:p>
          <a:p>
            <a:pPr algn="l">
              <a:spcBef>
                <a:spcPts val="300"/>
              </a:spcBef>
            </a:pPr>
            <a:r>
              <a:rPr sz="1300" b="0"/>
              <a:t>•  in piedi: accel_body = (0, 0, −9.81) come ArduPilot si aspetta; gravità proiettata nel task = (0, 0, −1) come in training</a:t>
            </a:r>
          </a:p>
          <a:p>
            <a:pPr algn="l">
              <a:spcBef>
                <a:spcPts val="800"/>
              </a:spcBef>
            </a:pPr>
            <a:r>
              <a:rPr sz="1500" b="1">
                <a:solidFill>
                  <a:srgbClr val="0D3B66"/>
                </a:solidFill>
              </a:rPr>
              <a:t>Lezione del primo test</a:t>
            </a:r>
          </a:p>
          <a:p>
            <a:pPr algn="l">
              <a:spcBef>
                <a:spcPts val="300"/>
              </a:spcBef>
            </a:pPr>
            <a:r>
              <a:rPr sz="1300" b="0"/>
              <a:t>•  ArduRover ha INS_GYRO_FILTER 4 Hz di default: il gyro arrivava alla rete con decine di ms di ritardo → caduta in 1 s</a:t>
            </a:r>
          </a:p>
          <a:p>
            <a:pPr algn="l">
              <a:spcBef>
                <a:spcPts val="300"/>
              </a:spcBef>
            </a:pPr>
            <a:r>
              <a:rPr sz="1300" b="0"/>
              <a:t>•  INS_GYRO_FILTER 0 (o 40) → stabile. Nessun passa-basso lento sul gyro che alimenta la policy, anche su hardware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4. Percorso dei comandi: da MAVProxy al twist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Ogni comando digitato in MAVProxy è un messaggio MAVLink standard; ArduPilot non è stato modificato qui.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2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566160"/>
                <a:gridCol w="2377440"/>
                <a:gridCol w="3108960"/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Comando MAVProxy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Messaggio MAVLink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Cosa fa in ArduRover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Effetto sulla rete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arm throttle [force]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COMMAND_LONG  MAV_CMD_COMPONENT_ARM_DISARM p1=1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AP_Arming → soft armed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PPO_FAIL 1→0, servo attivi, la policy tiene in piedi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rc 2 2000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RC_CHANNELS_OVERRIDE chan2=2000 (da sysid 255)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RC_Channels: norm_input_dz = +1.0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obs[48] vx = +1.0 × MDK_VX_MAX = 0.4 m/s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rc 1 1800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RC_CHANNELS_OVERRIDE chan1=1800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norm = +0.6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obs[49] vy = 0.6 × 0.3 = 0.18 m/s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rc 4 2000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RC_CHANNELS_OVERRIDE chan4=2000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norm = +1.0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obs[50] ωz = 1.0 rad/s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mode 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COMMAND_LONG  MAV_CMD_DO_SET_MODE custom_mode=4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Rover in HOLD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MDK_HOLD_MODE → twist forzato a 0: sta fermo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param set MDK_POLICY 1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PARAM_SET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AP_Param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prossimo tick usa la rete Cartan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disarm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COMMAND_LONG  ARM_DISARM p1=0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soft disarmed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azione 0, storia azzerata, PWM 0 (pianta: idle)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/>
              <a:t>Telemetria di ritorno (NAMED_VALUE_FLOAT ogni 0.5 s): PPO_MS tempo del forward, PPO_PGZ gravità z (in piedi ≈ −1), PPO_VX comando, PPO_FAIL stato.</a:t>
            </a:r>
          </a:p>
          <a:p>
            <a:pPr algn="l">
              <a:spcBef>
                <a:spcPts val="600"/>
              </a:spcBef>
            </a:pPr>
            <a:r>
              <a:rPr sz="1300" b="0"/>
              <a:t>Log DataFlash MDK / MDKQ / MDKV / MDKA: ogni tick con le 61 osservazioni e le 14 azioni → tools/log_parity.py le rigioca nell'ONNX (parità 2.5e-7).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5. Percorso degli attuatori: dall'azione ai servo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La rete produce offset in radianti; ArduPilot li trasporta come PWM; la pianta li riconverte in target di posizione.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286000" cy="137160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Rete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a[14] rad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clip ±MDK_ACT_MAX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828800"/>
            <a:ext cx="2286000" cy="137160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q_target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= q0 + a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q0 = posa STAND2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720" y="1828800"/>
            <a:ext cx="2560320" cy="137160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SRV_Channels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pwm = 1500 + q/0.003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funzioni 94..107 (Scripting1..14)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828800"/>
            <a:ext cx="3017520" cy="1371600"/>
          </a:xfrm>
          <a:prstGeom prst="roundRect">
            <a:avLst/>
          </a:prstGeom>
          <a:solidFill>
            <a:srgbClr val="FDECEA"/>
          </a:solidFill>
          <a:ln w="15875">
            <a:solidFill>
              <a:srgbClr val="D627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D62728"/>
                </a:solidFill>
              </a:rPr>
              <a:t>Pianta / robot</a:t>
            </a:r>
          </a:p>
          <a:p>
            <a:pPr algn="ctr"/>
            <a:r>
              <a:rPr sz="1100" b="0">
                <a:solidFill>
                  <a:srgbClr val="D62728"/>
                </a:solidFill>
              </a:rPr>
              <a:t>SITL: pacchetto servo udp:9002 → MuJoCo BAM</a:t>
            </a:r>
          </a:p>
          <a:p>
            <a:pPr algn="ctr"/>
            <a:r>
              <a:rPr sz="1100" b="0">
                <a:solidFill>
                  <a:srgbClr val="D62728"/>
                </a:solidFill>
              </a:rPr>
              <a:t>HW: bus Dynamixel (tick)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" y="251460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394960" y="251460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21040" y="251460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35661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 b="0"/>
              <a:t>•  Perché Scripting1..14: sono funzioni servo già esistenti che ArduPilot non tocca (nessun mixer, nessun ESC), scrivibili con SRV_Channels::set_output_pwm senza modificare SRV_Channel</a:t>
            </a:r>
          </a:p>
          <a:p>
            <a:pPr algn="l">
              <a:spcBef>
                <a:spcPts val="400"/>
              </a:spcBef>
            </a:pPr>
            <a:r>
              <a:rPr sz="1300" b="0"/>
              <a:t>•  Risoluzione 3 mrad/µs: sufficiente per gli XL330 (1.5 mrad/tick); su hardware si passa ai tick Robotis e la conversione sparisce</a:t>
            </a:r>
          </a:p>
          <a:p>
            <a:pPr algn="l">
              <a:spcBef>
                <a:spcPts val="400"/>
              </a:spcBef>
            </a:pPr>
            <a:r>
              <a:rPr sz="1300" b="0"/>
              <a:t>•  PWM 0 = 'non guido' (disarmato): la pianta tiene il duck fermo in piedi; su hardware corrisponde a torque off</a:t>
            </a:r>
          </a:p>
          <a:p>
            <a:pPr algn="l">
              <a:spcBef>
                <a:spcPts val="400"/>
              </a:spcBef>
            </a:pPr>
            <a:r>
              <a:rPr sz="1300" b="0"/>
              <a:t>•  L'azione che finisce nei servo è la stessa salvata nella storia: la rete al passo dopo vede ciò che è stato davvero applicato</a:t>
            </a:r>
          </a:p>
          <a:p>
            <a:pPr algn="l">
              <a:spcBef>
                <a:spcPts val="400"/>
              </a:spcBef>
            </a:pPr>
            <a:r>
              <a:rPr sz="1300" b="0"/>
              <a:t>•  Feedback: la pianta restituisce q e q̇ reali dei giunti; il task non usa mai i target come surrogato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6. L'integrazione in ArduRover, file per file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Fork virtualrobotix/ardupilot, branch microduck-ppo, sopra master upstream del 24/09/2026. 7 file toccati + 1 libreria nuova.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19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572000"/>
                <a:gridCol w="3749039"/>
              </a:tblGrid>
              <a:tr h="502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File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Modifica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Perché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</a:rPr>
                        <a:t>libraries/AP_MicroDuck/  (nuova)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AP_MicroDuck.{h,cpp}, microduck_infer.{h,c}, policy_mlp.h, policy_cartan.h, AP_MicroDuck_config.h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il task: obs, filtro gravità, storia, stick, servo, MDK_*, log, telemetria; rete in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</a:rPr>
                        <a:t>Rover/Parameters.h / .cpp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membro g2.microduck; AP_SUBGROUPINFO "MDK_" indice 63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parametri MDK_* visibili da GCS e salvati in EEPROM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</a:rPr>
                        <a:t>Rover/Rover.cpp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SCHED_TASK_CLASS update_attitude 400 Hz (→ loop rate), update 50 Hz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il task entra nello scheduler come qualunque libreria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</a:rPr>
                        <a:t>Rover/wscript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+ 'AP_MicroDuck'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link della libreria nel binario ardurover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</a:rPr>
                        <a:t>libraries/SITL/SIM_JSON.h / .cpp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tipo DATA_FLOAT_ARRAY14; chiavi joints/jpos, joints/jvel; copia in sitl-&gt;state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il backend fisico consegna i giunti come consegna l'IMU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202020"/>
                          </a:solidFill>
                        </a:rPr>
                        <a:t>libraries/SITL/SITL.h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sitl_fdm: joint_pos[16], joint_vel[16], joint_count, joint_time_us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02020"/>
                          </a:solidFill>
                        </a:rPr>
                        <a:t>sorgente SITL del joint feedback; su HW la sostituisce un driver Dynamixel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2578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/>
              <a:t>Nessuna modifica a RC_Channels, SRV_Channel, AP_InertialSensor, AP_Arming, GCS_MAVLink: il task usa le loro API pubbliche. AP_MICRODUCK_ENABLED è 1 su SITL; le board devono abilitarlo (pesi ~770 KB + ~500 KB di flash in float32).</a:t>
            </a:r>
          </a:p>
          <a:p>
            <a:pPr algn="l">
              <a:spcBef>
                <a:spcPts val="600"/>
              </a:spcBef>
            </a:pPr>
            <a:r>
              <a:rPr sz="1300" b="0"/>
              <a:t>Parametri SITL (sitl/microduck.parm): SERVO1..14_FUNCTION 94..107, SERVOn_MIN/MAX 800/2200, SIM_RATE_HZ 200, SCHED_LOOP_RATE 200, INS_GYRO_FILTER 0, ARMING_CHECK 0, MDK_ENABLE 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7. Tempi e sincronizzazione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Una sola linea del tempo, guidata dal lock-step JSON.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62728"/>
                </a:solidFill>
              </a:rPr>
              <a:t>MuJoCo  (5 ms)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2057400"/>
            <a:ext cx="8412480" cy="0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10896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927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958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3989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5020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6052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083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8114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9145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0176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208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2239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3270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4301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5332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7395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8426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9457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0488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2551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3582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94613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5644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6676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7707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78738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9769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0800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1832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2863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83894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04925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25956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469880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0680192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890504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100816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311128" y="1920240"/>
            <a:ext cx="45720" cy="27432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2514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3B66"/>
                </a:solidFill>
              </a:rPr>
              <a:t>SITL frame / INS  (5 ms)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108960" y="2743200"/>
            <a:ext cx="8412480" cy="0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310896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31927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52958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73989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5020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16052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37083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8114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9145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0176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21208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2239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63270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84301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05332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6364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68426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89457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10488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31520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752551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73582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794613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15644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836676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857707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78738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899769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20800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941832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962863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983894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04925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25956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10469880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680192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10890504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1100816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1311128" y="26060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7200" y="3200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3B66"/>
                </a:solidFill>
              </a:rPr>
              <a:t>Loop ArduRover  (5 ms)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3108960" y="3429000"/>
            <a:ext cx="8412480" cy="0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ectangle 92"/>
          <p:cNvSpPr/>
          <p:nvPr/>
        </p:nvSpPr>
        <p:spPr>
          <a:xfrm>
            <a:off x="310896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31927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52958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73989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95020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16052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37083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58114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79145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00176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21208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42239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63270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84301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05332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26364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647395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68426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89457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10488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31520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52551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73582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794613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815644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836676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57707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878738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899769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20800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941832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962863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983894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004925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1025956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0469880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10680192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0890504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1100816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1311128" y="3291840"/>
            <a:ext cx="45720" cy="274320"/>
          </a:xfrm>
          <a:prstGeom prst="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457200" y="38862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E7D32"/>
                </a:solidFill>
              </a:rPr>
              <a:t>AP_MicroDuck::update  (20 ms)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3108960" y="4114800"/>
            <a:ext cx="8412480" cy="0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3108960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950208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4791456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632704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473952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7315200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8156448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8997696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9838944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0680192" y="3977640"/>
            <a:ext cx="164592" cy="274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57200" y="4572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MAVProxy  (asincrono)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3108960" y="4800600"/>
            <a:ext cx="8412480" cy="0"/>
          </a:xfrm>
          <a:prstGeom prst="line">
            <a:avLst/>
          </a:prstGeom>
          <a:ln w="9525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Oval 146"/>
          <p:cNvSpPr/>
          <p:nvPr/>
        </p:nvSpPr>
        <p:spPr>
          <a:xfrm>
            <a:off x="3840480" y="4663440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675120" y="4663440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9235440" y="4663440"/>
            <a:ext cx="274320" cy="27432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108960" y="53492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55555"/>
                </a:solidFill>
              </a:rPr>
              <a:t>200 ms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 b="0"/>
              <a:t>•  SITL manda i PWM → MuJoCo fa 1 passo (5 ms) → risponde col JSON → il SITL avanza il suo clock di 5 ms. Nessuno dei due può correre avanti.</a:t>
            </a:r>
          </a:p>
          <a:p>
            <a:pPr algn="l">
              <a:spcBef>
                <a:spcPts val="400"/>
              </a:spcBef>
            </a:pPr>
            <a:r>
              <a:rPr sz="1200" b="0"/>
              <a:t>•  Il task a 50 Hz vede 4 passi fisici per azione, come in training (decimation 4). Il forward dura 0.25–0.37 ms sul Mac; su STM32H7 stimati 1–2 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8. Da .pt a C: come la rete addestrata entra nel firmware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Il normalizzatore delle osservazioni è parte della rete, non del simulatore.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2103120" cy="14630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model_1999.pt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PyTorch: actor, critic,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optimizer, normalizer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(mjlab + rsl_rl, 2048×2000)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920240"/>
            <a:ext cx="2103120" cy="1463040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.onnx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actor(normalizer(obs))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Sub(mean) → Div(std) →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Gemm/ELU… o Cartan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94960" y="1920240"/>
            <a:ext cx="2286000" cy="146304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policy_*.h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static const float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mean[61], std[61], pesi, q0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773 KB MLP / 496 KB Cartan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2103120" cy="146304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microduck_infer.c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forward float32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expf/logf, no heap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identico SITL / MCU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24160" y="1920240"/>
            <a:ext cx="1280160" cy="1463040"/>
          </a:xfrm>
          <a:prstGeom prst="roundRect">
            <a:avLst/>
          </a:prstGeom>
          <a:solidFill>
            <a:srgbClr val="E3ECF7"/>
          </a:solidFill>
          <a:ln w="15875">
            <a:solidFill>
              <a:srgbClr val="0D3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0D3B66"/>
                </a:solidFill>
              </a:rPr>
              <a:t>AP_MicroDuck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update()</a:t>
            </a:r>
          </a:p>
          <a:p>
            <a:pPr algn="ctr"/>
            <a:r>
              <a:rPr sz="1100" b="0">
                <a:solidFill>
                  <a:srgbClr val="0D3B66"/>
                </a:solidFill>
              </a:rPr>
              <a:t>50 Hz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265176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560320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</a:rPr>
              <a:t>scripts/export.py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0" y="265176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029200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</a:rPr>
              <a:t>tools/export_*_c.py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80960" y="265176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80960" y="23317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55555"/>
                </a:solidFill>
              </a:rPr>
              <a:t>#include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149840" y="2651760"/>
            <a:ext cx="274320" cy="0"/>
          </a:xfrm>
          <a:prstGeom prst="line">
            <a:avLst/>
          </a:prstGeom>
          <a:ln w="25400">
            <a:solidFill>
              <a:srgbClr val="55555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3749039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1">
                <a:solidFill>
                  <a:srgbClr val="0D3B66"/>
                </a:solidFill>
              </a:rPr>
              <a:t>Verifica in tre punti</a:t>
            </a:r>
          </a:p>
          <a:p>
            <a:pPr algn="l">
              <a:spcBef>
                <a:spcPts val="300"/>
              </a:spcBef>
            </a:pPr>
            <a:r>
              <a:rPr sz="1200" b="0"/>
              <a:t>•  tools/parity_check.py: 2201 osservazioni → ONNX Runtime vs binario C: max 3.8e-6 (MLP), 6.0e-5 (Cartan)</a:t>
            </a:r>
          </a:p>
          <a:p>
            <a:pPr algn="l">
              <a:spcBef>
                <a:spcPts val="300"/>
              </a:spcBef>
            </a:pPr>
            <a:r>
              <a:rPr sz="1200" b="0"/>
              <a:t>•  tools/log_parity.py: le osservazioni loggate dal firmware in volo → ONNX vs le azioni che il firmware ha inviato: max 2.5e-7</a:t>
            </a:r>
          </a:p>
          <a:p>
            <a:pPr algn="l">
              <a:spcBef>
                <a:spcPts val="300"/>
              </a:spcBef>
            </a:pPr>
            <a:r>
              <a:rPr sz="1200" b="0"/>
              <a:t>•  tools/policy_rollout_plant.py: la stessa policy sulla stessa pianta senza ArduPilot — separa problemi di pianta da problemi di firmware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D3B66"/>
                </a:solidFill>
              </a:rPr>
              <a:t>Le due reti (MDK_POLICY)</a:t>
            </a:r>
          </a:p>
          <a:p>
            <a:pPr algn="l">
              <a:spcBef>
                <a:spcPts val="300"/>
              </a:spcBef>
            </a:pPr>
            <a:r>
              <a:rPr sz="1200" b="0"/>
              <a:t>•  0 = MLP 61→512→256→128→14 ELU, 197 896 parametri, 0.37 ms</a:t>
            </a:r>
          </a:p>
          <a:p>
            <a:pPr algn="l">
              <a:spcBef>
                <a:spcPts val="300"/>
              </a:spcBef>
            </a:pPr>
            <a:r>
              <a:rPr sz="1200" b="0"/>
              <a:t>•  1 = Cartan+DiLU 61→192→3×CartanLinear→14, 127 054 parametri (−36 %), 0.25 ms, operatore con exp/log in 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9. Cosa cambia passando all'hardware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Solo il terzo processo: la pianta MuJoCo diventa il robot. AP_MicroDuck non cambia.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554480"/>
          <a:ext cx="112471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206240"/>
                <a:gridCol w="484632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Blocco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In SITL (oggi)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Su robot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IMU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MuJoCo → JSON → INS simulata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IMU del flight controller (stesso AP_InertialSensor)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Feedback giunti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JSON joints → sitl-&gt;state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driver bus Dynamixel (present position/velocity) → set_joint_feedback()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Uscite servo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SRV_Channels → pacchetto JSON PWM → MuJoCo BAM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SRV_Channels → protocollo Robotis (tick) sugli XL330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Comandi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MAVProxy rc / mode / arm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RC reale + GCS, identici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Rete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policy_*.h in C, 0.3 ms su Mac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stessa sorgente; STM32H7: 1–2 ms stimati (MLP), Cartan da misurare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02020"/>
                          </a:solidFill>
                        </a:rPr>
                        <a:t>Filtri IMU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INS_GYRO_FILTER 0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stessa regola: nessun LPF lento sul gyro che alimenta la policy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12064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/>
              <a:t>Il vincolo vero è il budget del microcontrollore: ~2×10⁵ MAC per passo (MLP) a 50 Hz più EKF, bus e logging. Il prossimo passo è lo stesso update() compilato su una Nucleo H7 con 1000 forward e misura p50/p99.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3B66"/>
                </a:solidFill>
              </a:rPr>
              <a:t>10. La demo e i risultati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960120"/>
            <a:ext cx="11274552" cy="0"/>
          </a:xfrm>
          <a:prstGeom prst="line">
            <a:avLst/>
          </a:prstGeom>
          <a:ln w="19050">
            <a:solidFill>
              <a:srgbClr val="D627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</a:rPr>
              <a:t>scripts/demo_mavproxy.py: un comando avvia pianta, SITL e MAVProxy e digita la sequenza dell'operatore.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</a:rPr>
              <a:t>Developed by Roberto Navoni : r.navoni74@gmail.com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446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1">
                <a:solidFill>
                  <a:srgbClr val="0D3B66"/>
                </a:solidFill>
              </a:rPr>
              <a:t>Sequenza digitata in MAVProxy</a:t>
            </a:r>
          </a:p>
          <a:p>
            <a:pPr algn="l">
              <a:spcBef>
                <a:spcPts val="300"/>
              </a:spcBef>
            </a:pPr>
            <a:r>
              <a:rPr sz="1200" b="0"/>
              <a:t>•  param set MDK_POLICY 0|1 · param set MDK_ENABLE 1</a:t>
            </a:r>
          </a:p>
          <a:p>
            <a:pPr algn="l">
              <a:spcBef>
                <a:spcPts val="300"/>
              </a:spcBef>
            </a:pPr>
            <a:r>
              <a:rPr sz="1200" b="0"/>
              <a:t>•  mode manual · rc all 1500 · arm throttle → 8 s in piedi</a:t>
            </a:r>
          </a:p>
          <a:p>
            <a:pPr algn="l">
              <a:spcBef>
                <a:spcPts val="300"/>
              </a:spcBef>
            </a:pPr>
            <a:r>
              <a:rPr sz="1200" b="0"/>
              <a:t>•  rc 2 2000 → avanti 12 s (≈2.6 m)</a:t>
            </a:r>
          </a:p>
          <a:p>
            <a:pPr algn="l">
              <a:spcBef>
                <a:spcPts val="300"/>
              </a:spcBef>
            </a:pPr>
            <a:r>
              <a:rPr sz="1200" b="0"/>
              <a:t>•  rc 1 1800 → laterale 8 s · rc 4 2000 → rotazione 8 s</a:t>
            </a:r>
          </a:p>
          <a:p>
            <a:pPr algn="l">
              <a:spcBef>
                <a:spcPts val="300"/>
              </a:spcBef>
            </a:pPr>
            <a:r>
              <a:rPr sz="1200" b="0"/>
              <a:t>•  mode hold → twist 0 · mode manual · disarm</a:t>
            </a:r>
          </a:p>
          <a:p>
            <a:pPr algn="l">
              <a:spcBef>
                <a:spcPts val="800"/>
              </a:spcBef>
            </a:pPr>
            <a:r>
              <a:rPr sz="1400" b="1">
                <a:solidFill>
                  <a:srgbClr val="0D3B66"/>
                </a:solidFill>
              </a:rPr>
              <a:t>Nel video (docs/media/demo_mavproxy_mlp.mp4)</a:t>
            </a:r>
          </a:p>
          <a:p>
            <a:pPr algn="l">
              <a:spcBef>
                <a:spcPts val="300"/>
              </a:spcBef>
            </a:pPr>
            <a:r>
              <a:rPr sz="1200" b="0"/>
              <a:t>•  pannello a sinistra: comando MAVProxy e messaggio MAVLink corrispondente</a:t>
            </a:r>
          </a:p>
          <a:p>
            <a:pPr algn="l">
              <a:spcBef>
                <a:spcPts val="300"/>
              </a:spcBef>
            </a:pPr>
            <a:r>
              <a:rPr sz="1200" b="0"/>
              <a:t>•  badge a destra: fase e twist comandato in SI</a:t>
            </a:r>
          </a:p>
          <a:p>
            <a:pPr algn="l">
              <a:spcBef>
                <a:spcPts val="300"/>
              </a:spcBef>
            </a:pPr>
            <a:r>
              <a:rPr sz="1200" b="0"/>
              <a:t>•  barra in basso: tempo, posizione, tilt del robot in MuJoCo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554480"/>
          <a:ext cx="53035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MLP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Cartan</a:t>
                      </a:r>
                    </a:p>
                  </a:txBody>
                  <a:tcPr>
                    <a:solidFill>
                      <a:srgbClr val="0D3B6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Parità C vs ONNX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3.8e-6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6.0e-5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Parità in-situ (log firmware)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2.5e-7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1.3e-6 (p99)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Forward nel SITL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0.37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0.25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Flash pesi (float32)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773 KB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496 KB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Batteria HIL 8 passi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8/8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8/8 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Avanti 0.3/0.4 m/s 15 s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nessuna caduta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02020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466344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</a:rPr>
              <a:t>Il tracking di velocità (~0.2 m/s a comando 0.4) è lo stesso del rollout Python sulla stessa pianta CPU: è il gap MuJoCo-CPU vs MuJoCo-Warp del training, non l'integrazione ArduPilot.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